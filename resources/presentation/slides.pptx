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3" autoAdjust="0"/>
    <p:restoredTop sz="94711" autoAdjust="0"/>
  </p:normalViewPr>
  <p:slideViewPr>
    <p:cSldViewPr snapToGrid="0" snapToObjects="1">
      <p:cViewPr varScale="1">
        <p:scale>
          <a:sx n="84" d="100"/>
          <a:sy n="84" d="100"/>
        </p:scale>
        <p:origin x="1278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
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AutonoBird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AI-Driven Autonomous Drone Platform</a:t>
            </a:r>
          </a:p>
          <a:p>
            <a:pPr lvl="0" marL="0" indent="0">
              <a:buNone/>
            </a:pPr>
            <a:r>
              <a:rPr/>
              <a:t>BSc Applied Computer Science — Individual Project</a:t>
            </a:r>
          </a:p>
          <a:p>
            <a:pPr lvl="0" marL="0" indent="0">
              <a:buNone/>
            </a:pPr>
            <a:r>
              <a:rPr/>
              <a:t>University of Plymouth</a:t>
            </a:r>
          </a:p>
          <a:p>
            <a:pPr lvl="0" marL="0" indent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</a:t>
            </a:r>
            <a:r>
              <a:rPr/>
              <a:t> </a:t>
            </a:r>
            <a:r>
              <a:rPr/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Consumer drones: cheap, closed, no onboard compute</a:t>
            </a:r>
          </a:p>
          <a:p>
            <a:pPr lvl="1"/>
            <a:r>
              <a:rPr/>
              <a:t>Defence-grade autonomous drones: capable but £10k+ and closed</a:t>
            </a:r>
          </a:p>
          <a:p>
            <a:pPr lvl="1"/>
            <a:r>
              <a:rPr/>
              <a:t>Gap: a £1000-class drone with NPU-accelerated perception and reactive autonomy</a:t>
            </a:r>
          </a:p>
          <a:p>
            <a:pPr lvl="0" marL="0" indent="0">
              <a:buNone/>
            </a:pPr>
            <a:r>
              <a:rPr b="1"/>
              <a:t>Research question.</a:t>
            </a:r>
            <a:r>
              <a:rPr/>
              <a:t> Can a Raspberry Pi 5 with a Hailo-8 NPU deliver vision-only autonomous obstacle avoidance on a 250 mm-class quadcopter under £1000?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System</a:t>
            </a:r>
            <a:r>
              <a:rPr/>
              <a:t> </a:t>
            </a:r>
            <a:r>
              <a:rPr/>
              <a:t>architecture</a:t>
            </a:r>
          </a:p>
        </p:txBody>
      </p:sp>
      <p:pic>
        <p:nvPicPr>
          <p:cNvPr descr="../dissertation/figure-1-airframe-completed-topview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65400" y="1600200"/>
            <a:ext cx="40132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56134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marL="0" indent="0" algn="ctr">
              <a:buNone/>
            </a:pPr>
            <a:r>
              <a:rPr/>
              <a:t>QUAV250</a:t>
            </a:r>
            <a:r>
              <a:rPr/>
              <a:t> </a:t>
            </a:r>
            <a:r>
              <a:rPr/>
              <a:t>airframe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/>
              <a:t>Pi</a:t>
            </a:r>
            <a:r>
              <a:rPr/>
              <a:t> </a:t>
            </a:r>
            <a:r>
              <a:rPr/>
              <a:t>5</a:t>
            </a:r>
            <a:r>
              <a:rPr/>
              <a:t> </a:t>
            </a:r>
            <a:r>
              <a:rPr/>
              <a:t>+</a:t>
            </a:r>
            <a:r>
              <a:rPr/>
              <a:t> </a:t>
            </a:r>
            <a:r>
              <a:rPr/>
              <a:t>AI</a:t>
            </a:r>
            <a:r>
              <a:rPr/>
              <a:t> </a:t>
            </a:r>
            <a:r>
              <a:rPr/>
              <a:t>HAT+</a:t>
            </a:r>
            <a:r>
              <a:rPr/>
              <a:t> </a:t>
            </a:r>
            <a:r>
              <a:rPr/>
              <a:t>+</a:t>
            </a:r>
            <a:r>
              <a:rPr/>
              <a:t> </a:t>
            </a:r>
            <a:r>
              <a:rPr/>
              <a:t>AR0144</a:t>
            </a:r>
            <a:r>
              <a:rPr/>
              <a:t> </a:t>
            </a:r>
            <a:r>
              <a:rPr/>
              <a:t>stereo</a:t>
            </a:r>
            <a:r>
              <a:rPr/>
              <a:t> </a:t>
            </a:r>
            <a:r>
              <a:rPr/>
              <a:t>on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top</a:t>
            </a:r>
            <a:r>
              <a:rPr/>
              <a:t> </a:t>
            </a:r>
            <a:r>
              <a:rPr/>
              <a:t>deck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</a:t>
            </a:r>
            <a:r>
              <a:rPr/>
              <a:t> </a:t>
            </a:r>
            <a:r>
              <a:rPr/>
              <a:t>airframe</a:t>
            </a:r>
          </a:p>
        </p:txBody>
      </p:sp>
      <p:pic>
        <p:nvPicPr>
          <p:cNvPr descr="../images/Drone/front-view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65400" y="1600200"/>
            <a:ext cx="40132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56134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marL="0" indent="0" algn="ctr">
              <a:buNone/>
            </a:pPr>
            <a:r>
              <a:rPr/>
              <a:t>Front</a:t>
            </a:r>
            <a:r>
              <a:rPr/>
              <a:t> </a:t>
            </a:r>
            <a:r>
              <a:rPr/>
              <a:t>and</a:t>
            </a:r>
            <a:r>
              <a:rPr/>
              <a:t> </a:t>
            </a:r>
            <a:r>
              <a:rPr/>
              <a:t>bottom</a:t>
            </a:r>
            <a:r>
              <a:rPr/>
              <a:t> </a:t>
            </a:r>
            <a:r>
              <a:rPr/>
              <a:t>views</a:t>
            </a:r>
            <a:r>
              <a:rPr/>
              <a:t> </a:t>
            </a:r>
            <a:r>
              <a:rPr/>
              <a:t>of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assembled</a:t>
            </a:r>
            <a:r>
              <a:rPr/>
              <a:t> </a:t>
            </a:r>
            <a:r>
              <a:rPr/>
              <a:t>QUAV250</a:t>
            </a:r>
            <a:r>
              <a:rPr/>
              <a:t> </a:t>
            </a:r>
            <a:r>
              <a:rPr/>
              <a:t>at</a:t>
            </a:r>
            <a:r>
              <a:rPr/>
              <a:t> </a:t>
            </a:r>
            <a:r>
              <a:rPr/>
              <a:t>945</a:t>
            </a:r>
            <a:r>
              <a:rPr/>
              <a:t> </a:t>
            </a:r>
            <a:r>
              <a:rPr/>
              <a:t>g</a:t>
            </a:r>
            <a:r>
              <a:rPr/>
              <a:t> </a:t>
            </a:r>
            <a:r>
              <a:rPr/>
              <a:t>all-up</a:t>
            </a:r>
            <a:r>
              <a:rPr/>
              <a:t> </a:t>
            </a:r>
            <a:r>
              <a:rPr/>
              <a:t>weight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Hardware</a:t>
            </a:r>
            <a:r>
              <a:rPr/>
              <a:t> </a:t>
            </a: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QUAV250 carbon frame, ArduCopter 4.6.3</a:t>
            </a:r>
          </a:p>
          <a:p>
            <a:pPr lvl="1"/>
            <a:r>
              <a:rPr b="1"/>
              <a:t>945 g all-up weight, 2.5:1 thrust-to-weight</a:t>
            </a:r>
          </a:p>
          <a:p>
            <a:pPr lvl="1"/>
            <a:r>
              <a:rPr b="1"/>
              <a:t>£761 total BOM</a:t>
            </a:r>
            <a:r>
              <a:rPr/>
              <a:t> (under the £1000 budget)</a:t>
            </a:r>
          </a:p>
          <a:p>
            <a:pPr lvl="1"/>
            <a:r>
              <a:rPr/>
              <a:t>4S 1500 mAh LiPo, UBEC USB-C feeding the Pi</a:t>
            </a:r>
          </a:p>
          <a:p>
            <a:pPr lvl="1"/>
            <a:r>
              <a:rPr/>
              <a:t>Pixhawk 6C Mini + Pi 5 + AI HAT+ + AR0144 stereo + SiK 433 MHz telemetry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Perception</a:t>
            </a:r>
            <a:r>
              <a:rPr/>
              <a:t> </a:t>
            </a:r>
            <a:r>
              <a:rPr/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Stereo capture: AR0144 USB, 13 fps @ 2560x720 MJPEG</a:t>
            </a:r>
          </a:p>
          <a:p>
            <a:pPr lvl="1"/>
            <a:r>
              <a:rPr/>
              <a:t>Rectify + SGBM half-resolution depth — 76 ms / frame</a:t>
            </a:r>
          </a:p>
          <a:p>
            <a:pPr lvl="1"/>
            <a:r>
              <a:rPr/>
              <a:t>YOLOv8n on Hailo-8 NPU — 18.5 ms inference</a:t>
            </a:r>
          </a:p>
          <a:p>
            <a:pPr lvl="1"/>
            <a:r>
              <a:rPr/>
              <a:t>Median-of-5x5-patch depth fusion at bounding-box centroids</a:t>
            </a:r>
          </a:p>
          <a:p>
            <a:pPr lvl="0" marL="0" indent="0">
              <a:buNone/>
            </a:pPr>
            <a:r>
              <a:rPr b="1"/>
              <a:t>End-to-end: 138 ms / 6.8 fps on Pi 5 — under the 250 ms NFR1 target.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Live</a:t>
            </a:r>
            <a:r>
              <a:rPr/>
              <a:t> </a:t>
            </a:r>
            <a:r>
              <a:rPr/>
              <a:t>perception</a:t>
            </a:r>
            <a:r>
              <a:rPr/>
              <a:t> </a:t>
            </a:r>
            <a:r>
              <a:rPr/>
              <a:t>output</a:t>
            </a:r>
          </a:p>
        </p:txBody>
      </p:sp>
      <p:pic>
        <p:nvPicPr>
          <p:cNvPr descr="../dissertation/figure-6-walkaround-percep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03300" y="1600200"/>
            <a:ext cx="71374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56134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marL="0" indent="0" algn="ctr">
              <a:buNone/>
            </a:pPr>
            <a:r>
              <a:rPr/>
              <a:t>YOLO</a:t>
            </a:r>
            <a:r>
              <a:rPr/>
              <a:t> </a:t>
            </a:r>
            <a:r>
              <a:rPr/>
              <a:t>detections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/>
              <a:t>bounding</a:t>
            </a:r>
            <a:r>
              <a:rPr/>
              <a:t> </a:t>
            </a:r>
            <a:r>
              <a:rPr/>
              <a:t>boxes</a:t>
            </a:r>
            <a:r>
              <a:rPr/>
              <a:t> </a:t>
            </a:r>
            <a:r>
              <a:rPr/>
              <a:t>+</a:t>
            </a:r>
            <a:r>
              <a:rPr/>
              <a:t> </a:t>
            </a:r>
            <a:r>
              <a:rPr/>
              <a:t>depth</a:t>
            </a:r>
            <a:r>
              <a:rPr/>
              <a:t> </a:t>
            </a:r>
            <a:r>
              <a:rPr/>
              <a:t>fusion</a:t>
            </a:r>
            <a:r>
              <a:rPr/>
              <a:t> </a:t>
            </a:r>
            <a:r>
              <a:rPr/>
              <a:t>+</a:t>
            </a:r>
            <a:r>
              <a:rPr/>
              <a:t> </a:t>
            </a:r>
            <a:r>
              <a:rPr/>
              <a:t>colourised</a:t>
            </a:r>
            <a:r>
              <a:rPr/>
              <a:t> </a:t>
            </a:r>
            <a:r>
              <a:rPr/>
              <a:t>SGBM</a:t>
            </a:r>
            <a:r>
              <a:rPr/>
              <a:t> </a:t>
            </a:r>
            <a:r>
              <a:rPr/>
              <a:t>heatmap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NPU</a:t>
            </a:r>
            <a:r>
              <a:rPr/>
              <a:t> </a:t>
            </a:r>
            <a:r>
              <a:rPr/>
              <a:t>selection</a:t>
            </a:r>
            <a:r>
              <a:rPr/>
              <a:t> </a:t>
            </a:r>
            <a:r>
              <a:rPr/>
              <a:t>rationale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Two candidate HATs: Hailo-8 (26 TOPS INT8) vs Hailo-10H (40 TOPS INT4)</a:t>
            </a:r>
          </a:p>
          <a:p>
            <a:pPr lvl="1"/>
            <a:r>
              <a:rPr/>
              <a:t>Selected empirically via the </a:t>
            </a:r>
            <a:r>
              <a:rPr b="1"/>
              <a:t>Benchy</a:t>
            </a:r>
            <a:r>
              <a:rPr/>
              <a:t> benchmark suite — identical YOLO models on both</a:t>
            </a:r>
          </a:p>
          <a:p>
            <a:pPr lvl="1"/>
            <a:r>
              <a:rPr/>
              <a:t>Hailo-8 wins YOLOv8n at 640x640 by </a:t>
            </a:r>
            <a:r>
              <a:rPr b="1"/>
              <a:t>2.6x to 6.9x</a:t>
            </a:r>
          </a:p>
          <a:p>
            <a:pPr lvl="1"/>
            <a:r>
              <a:rPr/>
              <a:t>Hailo-10H wins LLM workloads (10.35 TPS on llama3.2:1b) — recorded for future text-to-intent, not the vision-first autonomy path</a:t>
            </a:r>
          </a:p>
          <a:p>
            <a:pPr lvl="1"/>
            <a:r>
              <a:rPr/>
              <a:t>Decision: Hailo-8 on the airframe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NPU</a:t>
            </a:r>
            <a:r>
              <a:rPr/>
              <a:t> </a:t>
            </a:r>
            <a:r>
              <a:rPr/>
              <a:t>throughput</a:t>
            </a:r>
            <a:r>
              <a:rPr/>
              <a:t> </a:t>
            </a:r>
            <a:r>
              <a:rPr/>
              <a:t>comparison</a:t>
            </a:r>
          </a:p>
        </p:txBody>
      </p:sp>
      <p:pic>
        <p:nvPicPr>
          <p:cNvPr descr="../dissertation/figure-8-NPU-throughput-comparis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87400" y="1600200"/>
            <a:ext cx="75692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56134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marL="0" indent="0" algn="ctr">
              <a:buNone/>
            </a:pPr>
            <a:r>
              <a:rPr/>
              <a:t>Hailo-8</a:t>
            </a:r>
            <a:r>
              <a:rPr/>
              <a:t> </a:t>
            </a:r>
            <a:r>
              <a:rPr/>
              <a:t>vs</a:t>
            </a:r>
            <a:r>
              <a:rPr/>
              <a:t> </a:t>
            </a:r>
            <a:r>
              <a:rPr/>
              <a:t>Hailo-10H</a:t>
            </a:r>
            <a:r>
              <a:rPr/>
              <a:t> </a:t>
            </a:r>
            <a:r>
              <a:rPr/>
              <a:t>YOLO</a:t>
            </a:r>
            <a:r>
              <a:rPr/>
              <a:t> </a:t>
            </a:r>
            <a:r>
              <a:rPr/>
              <a:t>throughput</a:t>
            </a:r>
            <a:r>
              <a:rPr/>
              <a:t> </a:t>
            </a:r>
            <a:r>
              <a:rPr/>
              <a:t>at</a:t>
            </a:r>
            <a:r>
              <a:rPr/>
              <a:t> </a:t>
            </a:r>
            <a:r>
              <a:rPr/>
              <a:t>640x640,</a:t>
            </a:r>
            <a:r>
              <a:rPr/>
              <a:t> </a:t>
            </a:r>
            <a:r>
              <a:rPr/>
              <a:t>Benchy</a:t>
            </a:r>
            <a:r>
              <a:rPr/>
              <a:t> </a:t>
            </a:r>
            <a:r>
              <a:rPr/>
              <a:t>benchmark</a:t>
            </a:r>
            <a:r>
              <a:rPr/>
              <a:t> </a:t>
            </a:r>
            <a:r>
              <a:rPr/>
              <a:t>suite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Autonomy</a:t>
            </a:r>
            <a:r>
              <a:rPr/>
              <a:t> </a:t>
            </a:r>
            <a:r>
              <a:rPr/>
              <a:t>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b="1"/>
              <a:t>Pi-side MAVLink bridge</a:t>
            </a:r>
            <a:r>
              <a:rPr/>
              <a:t> — </a:t>
            </a:r>
            <a:r>
              <a:rPr>
                <a:latin typeface="Courier"/>
              </a:rPr>
              <a:t>Vehicle</a:t>
            </a:r>
            <a:r>
              <a:rPr/>
              <a:t> class wrapping pymavlink, same code targets SITL + real Pixhawk</a:t>
            </a:r>
          </a:p>
          <a:p>
            <a:pPr lvl="1"/>
            <a:r>
              <a:rPr b="1"/>
              <a:t>State machine</a:t>
            </a:r>
            <a:r>
              <a:rPr/>
              <a:t> — 9 flight states with Schmitt-trigger hysteresis on autopilot-filtered climb rate</a:t>
            </a:r>
          </a:p>
          <a:p>
            <a:pPr lvl="1"/>
            <a:r>
              <a:rPr b="1"/>
              <a:t>Reactive planner</a:t>
            </a:r>
            <a:r>
              <a:rPr/>
              <a:t> — CRUISING / AVOIDING / IDLE / LANDING; sector-based sidestep at 10 Hz</a:t>
            </a:r>
          </a:p>
          <a:p>
            <a:pPr lvl="1"/>
            <a:r>
              <a:rPr b="1"/>
              <a:t>Orchestrator</a:t>
            </a:r>
            <a:r>
              <a:rPr/>
              <a:t> — single-process bring-up of bridge -&gt; FSM -&gt; planner -&gt; optional gesture pipeline -&gt; optional Pico LED status</a:t>
            </a:r>
          </a:p>
          <a:p>
            <a:pPr lvl="1"/>
            <a:r>
              <a:rPr b="1"/>
              <a:t>Intent surface</a:t>
            </a:r>
            <a:r>
              <a:rPr/>
              <a:t> — </a:t>
            </a:r>
            <a:r>
              <a:rPr>
                <a:latin typeface="Courier"/>
              </a:rPr>
              <a:t>command_hold / resume / land / rtl</a:t>
            </a:r>
            <a:r>
              <a:rPr/>
              <a:t> — what voice, gestures, and future inputs bind into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SITL</a:t>
            </a:r>
            <a:r>
              <a:rPr/>
              <a:t> </a:t>
            </a:r>
            <a:r>
              <a:rPr/>
              <a:t>hover</a:t>
            </a:r>
            <a:r>
              <a:rPr/>
              <a:t> </a:t>
            </a:r>
            <a:r>
              <a:rPr/>
              <a:t>stability</a:t>
            </a:r>
            <a:r>
              <a:rPr/>
              <a:t> </a:t>
            </a:r>
            <a:r>
              <a:rPr/>
              <a:t>(T4)</a:t>
            </a:r>
          </a:p>
        </p:txBody>
      </p:sp>
      <p:pic>
        <p:nvPicPr>
          <p:cNvPr descr="../../scripts/sitl/logs/t4_hover_20260516-1857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35200"/>
            <a:ext cx="82296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56134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marL="0" indent="0" algn="ctr">
              <a:buNone/>
            </a:pPr>
            <a:r>
              <a:rPr/>
              <a:t>60</a:t>
            </a:r>
            <a:r>
              <a:rPr/>
              <a:t> </a:t>
            </a:r>
            <a:r>
              <a:rPr/>
              <a:t>s</a:t>
            </a:r>
            <a:r>
              <a:rPr/>
              <a:t> </a:t>
            </a:r>
            <a:r>
              <a:rPr/>
              <a:t>GUIDED</a:t>
            </a:r>
            <a:r>
              <a:rPr/>
              <a:t> </a:t>
            </a:r>
            <a:r>
              <a:rPr/>
              <a:t>hover</a:t>
            </a:r>
            <a:r>
              <a:rPr/>
              <a:t> </a:t>
            </a:r>
            <a:r>
              <a:rPr/>
              <a:t>at</a:t>
            </a:r>
            <a:r>
              <a:rPr/>
              <a:t> </a:t>
            </a:r>
            <a:r>
              <a:rPr/>
              <a:t>5</a:t>
            </a:r>
            <a:r>
              <a:rPr/>
              <a:t> </a:t>
            </a:r>
            <a:r>
              <a:rPr/>
              <a:t>m</a:t>
            </a:r>
            <a:r>
              <a:rPr/>
              <a:t> </a:t>
            </a:r>
            <a:r>
              <a:rPr/>
              <a:t>AGL</a:t>
            </a:r>
            <a:r>
              <a:rPr/>
              <a:t> </a:t>
            </a:r>
            <a:r>
              <a:rPr/>
              <a:t>—</a:t>
            </a:r>
            <a:r>
              <a:rPr/>
              <a:t> </a:t>
            </a:r>
            <a:r>
              <a:rPr/>
              <a:t>582</a:t>
            </a:r>
            <a:r>
              <a:rPr/>
              <a:t> </a:t>
            </a:r>
            <a:r>
              <a:rPr/>
              <a:t>samples,</a:t>
            </a:r>
            <a:r>
              <a:rPr/>
              <a:t> </a:t>
            </a:r>
            <a:r>
              <a:rPr/>
              <a:t>max</a:t>
            </a:r>
            <a:r>
              <a:rPr/>
              <a:t> </a:t>
            </a:r>
            <a:r>
              <a:rPr/>
              <a:t>horizontal</a:t>
            </a:r>
            <a:r>
              <a:rPr/>
              <a:t> </a:t>
            </a:r>
            <a:r>
              <a:rPr/>
              <a:t>drift</a:t>
            </a:r>
            <a:r>
              <a:rPr/>
              <a:t> </a:t>
            </a:r>
            <a:r>
              <a:rPr/>
              <a:t>38</a:t>
            </a:r>
            <a:r>
              <a:rPr/>
              <a:t> </a:t>
            </a:r>
            <a:r>
              <a:rPr/>
              <a:t>mm,</a:t>
            </a:r>
            <a:r>
              <a:rPr/>
              <a:t> </a:t>
            </a:r>
            <a:r>
              <a:rPr/>
              <a:t>RMS</a:t>
            </a:r>
            <a:r>
              <a:rPr/>
              <a:t> </a:t>
            </a:r>
            <a:r>
              <a:rPr/>
              <a:t>19</a:t>
            </a:r>
            <a:r>
              <a:rPr/>
              <a:t> </a:t>
            </a:r>
            <a:r>
              <a:rPr/>
              <a:t>mm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SITL</a:t>
            </a:r>
            <a:r>
              <a:rPr/>
              <a:t> </a:t>
            </a:r>
            <a:r>
              <a:rPr/>
              <a:t>mission</a:t>
            </a:r>
            <a:r>
              <a:rPr/>
              <a:t> </a:t>
            </a:r>
            <a:r>
              <a:rPr/>
              <a:t>replicate</a:t>
            </a:r>
            <a:r>
              <a:rPr/>
              <a:t> </a:t>
            </a:r>
            <a:r>
              <a:rPr/>
              <a:t>(T6)</a:t>
            </a:r>
          </a:p>
        </p:txBody>
      </p:sp>
      <p:pic>
        <p:nvPicPr>
          <p:cNvPr descr="../../scripts/sitl/logs/t6_replicate_20260516-20312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374900"/>
            <a:ext cx="8229600" cy="246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56134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marL="0" indent="0" algn="ctr">
              <a:buNone/>
            </a:pPr>
            <a:r>
              <a:rPr/>
              <a:t>10</a:t>
            </a:r>
            <a:r>
              <a:rPr/>
              <a:t> </a:t>
            </a:r>
            <a:r>
              <a:rPr/>
              <a:t>sequential</a:t>
            </a:r>
            <a:r>
              <a:rPr/>
              <a:t> </a:t>
            </a:r>
            <a:r>
              <a:rPr/>
              <a:t>50</a:t>
            </a:r>
            <a:r>
              <a:rPr/>
              <a:t> </a:t>
            </a:r>
            <a:r>
              <a:rPr/>
              <a:t>m</a:t>
            </a:r>
            <a:r>
              <a:rPr/>
              <a:t> </a:t>
            </a:r>
            <a:r>
              <a:rPr/>
              <a:t>x</a:t>
            </a:r>
            <a:r>
              <a:rPr/>
              <a:t> </a:t>
            </a:r>
            <a:r>
              <a:rPr/>
              <a:t>50</a:t>
            </a:r>
            <a:r>
              <a:rPr/>
              <a:t> </a:t>
            </a:r>
            <a:r>
              <a:rPr/>
              <a:t>m</a:t>
            </a:r>
            <a:r>
              <a:rPr/>
              <a:t> </a:t>
            </a:r>
            <a:r>
              <a:rPr/>
              <a:t>box</a:t>
            </a:r>
            <a:r>
              <a:rPr/>
              <a:t> </a:t>
            </a:r>
            <a:r>
              <a:rPr/>
              <a:t>missions</a:t>
            </a:r>
            <a:r>
              <a:rPr/>
              <a:t> </a:t>
            </a:r>
            <a:r>
              <a:rPr/>
              <a:t>—</a:t>
            </a:r>
            <a:r>
              <a:rPr/>
              <a:t> </a:t>
            </a:r>
            <a:r>
              <a:rPr/>
              <a:t>51.12</a:t>
            </a:r>
            <a:r>
              <a:rPr/>
              <a:t> </a:t>
            </a:r>
            <a:r>
              <a:rPr/>
              <a:t>±</a:t>
            </a:r>
            <a:r>
              <a:rPr/>
              <a:t> </a:t>
            </a:r>
            <a:r>
              <a:rPr/>
              <a:t>0.07</a:t>
            </a:r>
            <a:r>
              <a:rPr/>
              <a:t> </a:t>
            </a:r>
            <a:r>
              <a:rPr/>
              <a:t>m</a:t>
            </a:r>
            <a:r>
              <a:rPr/>
              <a:t> </a:t>
            </a:r>
            <a:r>
              <a:rPr/>
              <a:t>extents,</a:t>
            </a:r>
            <a:r>
              <a:rPr/>
              <a:t> </a:t>
            </a:r>
            <a:r>
              <a:rPr/>
              <a:t>100%</a:t>
            </a:r>
            <a:r>
              <a:rPr/>
              <a:t> </a:t>
            </a:r>
            <a:r>
              <a:rPr/>
              <a:t>pass</a:t>
            </a:r>
            <a:r>
              <a:rPr/>
              <a:t> </a:t>
            </a:r>
            <a:r>
              <a:rPr/>
              <a:t>rate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SITL</a:t>
            </a:r>
            <a:r>
              <a:rPr/>
              <a:t> </a:t>
            </a:r>
            <a:r>
              <a:rPr/>
              <a:t>wind</a:t>
            </a:r>
            <a:r>
              <a:rPr/>
              <a:t> </a:t>
            </a:r>
            <a:r>
              <a:rPr/>
              <a:t>disturbance</a:t>
            </a:r>
            <a:r>
              <a:rPr/>
              <a:t> </a:t>
            </a:r>
            <a:r>
              <a:rPr/>
              <a:t>rejection</a:t>
            </a:r>
          </a:p>
        </p:txBody>
      </p:sp>
      <p:pic>
        <p:nvPicPr>
          <p:cNvPr descr="../../scripts/sitl/logs/wind_sweep_20260516-2140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374900"/>
            <a:ext cx="8229600" cy="246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56134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marL="0" indent="0" algn="ctr">
              <a:buNone/>
            </a:pPr>
            <a:r>
              <a:rPr/>
              <a:t>SIM_WIND_SPD</a:t>
            </a:r>
            <a:r>
              <a:rPr/>
              <a:t> </a:t>
            </a:r>
            <a:r>
              <a:rPr/>
              <a:t>swept</a:t>
            </a:r>
            <a:r>
              <a:rPr/>
              <a:t> </a:t>
            </a:r>
            <a:r>
              <a:rPr/>
              <a:t>across</a:t>
            </a:r>
            <a:r>
              <a:rPr/>
              <a:t> </a:t>
            </a:r>
            <a:r>
              <a:rPr/>
              <a:t>0/5/10/15</a:t>
            </a:r>
            <a:r>
              <a:rPr/>
              <a:t> </a:t>
            </a:r>
            <a:r>
              <a:rPr/>
              <a:t>m/s</a:t>
            </a:r>
            <a:r>
              <a:rPr/>
              <a:t> </a:t>
            </a:r>
            <a:r>
              <a:rPr/>
              <a:t>—</a:t>
            </a:r>
            <a:r>
              <a:rPr/>
              <a:t> </a:t>
            </a:r>
            <a:r>
              <a:rPr/>
              <a:t>hover</a:t>
            </a:r>
            <a:r>
              <a:rPr/>
              <a:t> </a:t>
            </a:r>
            <a:r>
              <a:rPr/>
              <a:t>h-drift</a:t>
            </a:r>
            <a:r>
              <a:rPr/>
              <a:t> </a:t>
            </a:r>
            <a:r>
              <a:rPr/>
              <a:t>stays</a:t>
            </a:r>
            <a:r>
              <a:rPr/>
              <a:t> </a:t>
            </a:r>
            <a:r>
              <a:rPr/>
              <a:t>under</a:t>
            </a:r>
            <a:r>
              <a:rPr/>
              <a:t> </a:t>
            </a:r>
            <a:r>
              <a:rPr/>
              <a:t>120</a:t>
            </a:r>
            <a:r>
              <a:rPr/>
              <a:t> </a:t>
            </a:r>
            <a:r>
              <a:rPr/>
              <a:t>mm;</a:t>
            </a:r>
            <a:r>
              <a:rPr/>
              <a:t> </a:t>
            </a:r>
            <a:r>
              <a:rPr/>
              <a:t>T6</a:t>
            </a:r>
            <a:r>
              <a:rPr/>
              <a:t> </a:t>
            </a:r>
            <a:r>
              <a:rPr/>
              <a:t>mission</a:t>
            </a:r>
            <a:r>
              <a:rPr/>
              <a:t> </a:t>
            </a:r>
            <a:r>
              <a:rPr/>
              <a:t>pass</a:t>
            </a:r>
            <a:r>
              <a:rPr/>
              <a:t> </a:t>
            </a:r>
            <a:r>
              <a:rPr/>
              <a:t>rate</a:t>
            </a:r>
            <a:r>
              <a:rPr/>
              <a:t> </a:t>
            </a:r>
            <a:r>
              <a:rPr/>
              <a:t>100%</a:t>
            </a:r>
            <a:r>
              <a:rPr/>
              <a:t> </a:t>
            </a:r>
            <a:r>
              <a:rPr/>
              <a:t>at</a:t>
            </a:r>
            <a:r>
              <a:rPr/>
              <a:t> </a:t>
            </a:r>
            <a:r>
              <a:rPr/>
              <a:t>every</a:t>
            </a:r>
            <a:r>
              <a:rPr/>
              <a:t> </a:t>
            </a:r>
            <a:r>
              <a:rPr/>
              <a:t>wind</a:t>
            </a:r>
            <a:r>
              <a:rPr/>
              <a:t> </a:t>
            </a:r>
            <a:r>
              <a:rPr/>
              <a:t>level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Gazebo</a:t>
            </a:r>
            <a:r>
              <a:rPr/>
              <a:t> </a:t>
            </a:r>
            <a:r>
              <a:rPr/>
              <a:t>collision</a:t>
            </a:r>
            <a:r>
              <a:rPr/>
              <a:t> </a:t>
            </a:r>
            <a:r>
              <a:rPr/>
              <a:t>avoidance</a:t>
            </a:r>
            <a:r>
              <a:rPr/>
              <a:t> </a:t>
            </a:r>
            <a:r>
              <a:rPr/>
              <a:t>(T5)</a:t>
            </a:r>
          </a:p>
        </p:txBody>
      </p:sp>
      <p:pic>
        <p:nvPicPr>
          <p:cNvPr descr="../dissertation/figure-4-T5-gazebo-cleara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03300" y="1600200"/>
            <a:ext cx="71374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56134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marL="0" indent="0" algn="ctr">
              <a:buNone/>
            </a:pPr>
            <a:r>
              <a:rPr/>
              <a:t>Custom</a:t>
            </a:r>
            <a:r>
              <a:rPr/>
              <a:t> </a:t>
            </a:r>
            <a:r>
              <a:rPr/>
              <a:t>iris</a:t>
            </a:r>
            <a:r>
              <a:rPr/>
              <a:t> </a:t>
            </a:r>
            <a:r>
              <a:rPr/>
              <a:t>+</a:t>
            </a:r>
            <a:r>
              <a:rPr/>
              <a:t> </a:t>
            </a:r>
            <a:r>
              <a:rPr/>
              <a:t>forward</a:t>
            </a:r>
            <a:r>
              <a:rPr/>
              <a:t> </a:t>
            </a:r>
            <a:r>
              <a:rPr/>
              <a:t>GPU</a:t>
            </a:r>
            <a:r>
              <a:rPr/>
              <a:t> </a:t>
            </a:r>
            <a:r>
              <a:rPr/>
              <a:t>lidar</a:t>
            </a:r>
            <a:r>
              <a:rPr/>
              <a:t> </a:t>
            </a:r>
            <a:r>
              <a:rPr/>
              <a:t>+</a:t>
            </a:r>
            <a:r>
              <a:rPr/>
              <a:t> </a:t>
            </a:r>
            <a:r>
              <a:rPr/>
              <a:t>12</a:t>
            </a:r>
            <a:r>
              <a:rPr/>
              <a:t> </a:t>
            </a:r>
            <a:r>
              <a:rPr/>
              <a:t>m</a:t>
            </a:r>
            <a:r>
              <a:rPr/>
              <a:t> </a:t>
            </a:r>
            <a:r>
              <a:rPr/>
              <a:t>red</a:t>
            </a:r>
            <a:r>
              <a:rPr/>
              <a:t> </a:t>
            </a:r>
            <a:r>
              <a:rPr/>
              <a:t>cylinder</a:t>
            </a:r>
            <a:r>
              <a:rPr/>
              <a:t> </a:t>
            </a:r>
            <a:r>
              <a:rPr/>
              <a:t>obstacle</a:t>
            </a:r>
            <a:r>
              <a:rPr/>
              <a:t> </a:t>
            </a:r>
            <a:r>
              <a:rPr/>
              <a:t>—</a:t>
            </a:r>
            <a:r>
              <a:rPr/>
              <a:t> </a:t>
            </a:r>
            <a:r>
              <a:rPr/>
              <a:t>min</a:t>
            </a:r>
            <a:r>
              <a:rPr/>
              <a:t> </a:t>
            </a:r>
            <a:r>
              <a:rPr/>
              <a:t>clearance</a:t>
            </a:r>
            <a:r>
              <a:rPr/>
              <a:t> </a:t>
            </a:r>
            <a:r>
              <a:rPr/>
              <a:t>1.92</a:t>
            </a:r>
            <a:r>
              <a:rPr/>
              <a:t> </a:t>
            </a:r>
            <a:r>
              <a:rPr/>
              <a:t>m,</a:t>
            </a:r>
            <a:r>
              <a:rPr/>
              <a:t> </a:t>
            </a:r>
            <a:r>
              <a:rPr/>
              <a:t>6.4x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0.3</a:t>
            </a:r>
            <a:r>
              <a:rPr/>
              <a:t> </a:t>
            </a:r>
            <a:r>
              <a:rPr/>
              <a:t>m</a:t>
            </a:r>
            <a:r>
              <a:rPr/>
              <a:t> </a:t>
            </a:r>
            <a:r>
              <a:rPr/>
              <a:t>bound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Hardware-airframe</a:t>
            </a:r>
            <a:r>
              <a:rPr/>
              <a:t> </a:t>
            </a:r>
            <a:r>
              <a:rPr/>
              <a:t>stack</a:t>
            </a:r>
            <a:r>
              <a:rPr/>
              <a:t> </a:t>
            </a: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2026-05-18: airframe-mounted Pi + real Pixhawk, 3:34 min handheld walkaround, motors off</a:t>
            </a:r>
          </a:p>
          <a:p>
            <a:pPr lvl="1"/>
            <a:r>
              <a:rPr b="1"/>
              <a:t>138.1 ms loop EMA</a:t>
            </a:r>
            <a:r>
              <a:rPr/>
              <a:t> — reproduces bench baseline on the mounted platform</a:t>
            </a:r>
          </a:p>
          <a:p>
            <a:pPr lvl="1"/>
            <a:r>
              <a:rPr/>
              <a:t>1449 frames in JSONL, </a:t>
            </a:r>
            <a:r>
              <a:rPr b="1"/>
              <a:t>14 distinct YOLO classes</a:t>
            </a:r>
            <a:r>
              <a:rPr/>
              <a:t>, 161 planner transitions on real stereo</a:t>
            </a:r>
          </a:p>
          <a:p>
            <a:pPr lvl="1"/>
            <a:r>
              <a:rPr b="1"/>
              <a:t>Zero</a:t>
            </a:r>
            <a:r>
              <a:rPr/>
              <a:t> bridge errors / timeouts / under-voltage events over the full session</a:t>
            </a:r>
          </a:p>
          <a:p>
            <a:pPr lvl="1"/>
            <a:r>
              <a:rPr/>
              <a:t>First hardware-validation of the perception + autonomy software path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SiK</a:t>
            </a:r>
            <a:r>
              <a:rPr/>
              <a:t> </a:t>
            </a:r>
            <a:r>
              <a:rPr/>
              <a:t>433</a:t>
            </a:r>
            <a:r>
              <a:rPr/>
              <a:t> </a:t>
            </a:r>
            <a:r>
              <a:rPr/>
              <a:t>MHz</a:t>
            </a:r>
            <a:r>
              <a:rPr/>
              <a:t> </a:t>
            </a:r>
            <a:r>
              <a:rPr/>
              <a:t>telemetry</a:t>
            </a:r>
            <a:r>
              <a:rPr/>
              <a:t> </a:t>
            </a:r>
            <a:r>
              <a:rPr/>
              <a:t>link</a:t>
            </a:r>
          </a:p>
        </p:txBody>
      </p:sp>
      <p:pic>
        <p:nvPicPr>
          <p:cNvPr descr="../../scripts/sitl/logs/sik_los_20260518-2345_plo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06500" y="1600200"/>
            <a:ext cx="67310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56134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marL="0" indent="0" algn="ctr">
              <a:buNone/>
            </a:pPr>
            <a:r>
              <a:rPr/>
              <a:t>RSSI</a:t>
            </a:r>
            <a:r>
              <a:rPr/>
              <a:t> </a:t>
            </a:r>
            <a:r>
              <a:rPr/>
              <a:t>219</a:t>
            </a:r>
            <a:r>
              <a:rPr/>
              <a:t> </a:t>
            </a:r>
            <a:r>
              <a:rPr/>
              <a:t>baseline</a:t>
            </a:r>
            <a:r>
              <a:rPr/>
              <a:t> </a:t>
            </a:r>
            <a:r>
              <a:rPr/>
              <a:t>-&gt;</a:t>
            </a:r>
            <a:r>
              <a:rPr/>
              <a:t> </a:t>
            </a:r>
            <a:r>
              <a:rPr/>
              <a:t>145</a:t>
            </a:r>
            <a:r>
              <a:rPr/>
              <a:t> </a:t>
            </a:r>
            <a:r>
              <a:rPr/>
              <a:t>at</a:t>
            </a:r>
            <a:r>
              <a:rPr/>
              <a:t> </a:t>
            </a:r>
            <a:r>
              <a:rPr/>
              <a:t>25</a:t>
            </a:r>
            <a:r>
              <a:rPr/>
              <a:t> </a:t>
            </a:r>
            <a:r>
              <a:rPr/>
              <a:t>m</a:t>
            </a:r>
            <a:r>
              <a:rPr/>
              <a:t> </a:t>
            </a:r>
            <a:r>
              <a:rPr/>
              <a:t>through</a:t>
            </a:r>
            <a:r>
              <a:rPr/>
              <a:t> </a:t>
            </a:r>
            <a:r>
              <a:rPr/>
              <a:t>multiple</a:t>
            </a:r>
            <a:r>
              <a:rPr/>
              <a:t> </a:t>
            </a:r>
            <a:r>
              <a:rPr/>
              <a:t>walls</a:t>
            </a:r>
            <a:r>
              <a:rPr/>
              <a:t> </a:t>
            </a:r>
            <a:r>
              <a:rPr/>
              <a:t>—</a:t>
            </a:r>
            <a:r>
              <a:rPr/>
              <a:t> </a:t>
            </a:r>
            <a:r>
              <a:rPr/>
              <a:t>0</a:t>
            </a:r>
            <a:r>
              <a:rPr/>
              <a:t> </a:t>
            </a:r>
            <a:r>
              <a:rPr/>
              <a:t>packet</a:t>
            </a:r>
            <a:r>
              <a:rPr/>
              <a:t> </a:t>
            </a:r>
            <a:r>
              <a:rPr/>
              <a:t>loss</a:t>
            </a:r>
            <a:r>
              <a:rPr/>
              <a:t> </a:t>
            </a:r>
            <a:r>
              <a:rPr/>
              <a:t>across</a:t>
            </a:r>
            <a:r>
              <a:rPr/>
              <a:t> </a:t>
            </a:r>
            <a:r>
              <a:rPr/>
              <a:t>239</a:t>
            </a:r>
            <a:r>
              <a:rPr/>
              <a:t> </a:t>
            </a:r>
            <a:r>
              <a:rPr/>
              <a:t>samples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Requirements</a:t>
            </a:r>
            <a:r>
              <a:rPr/>
              <a:t> </a:t>
            </a:r>
            <a:r>
              <a:rPr/>
              <a:t>verdict</a:t>
            </a:r>
            <a:r>
              <a:rPr/>
              <a:t> </a:t>
            </a:r>
            <a:r>
              <a:rPr/>
              <a:t>—</a:t>
            </a:r>
            <a:r>
              <a:rPr/>
              <a:t> </a:t>
            </a:r>
            <a:r>
              <a:rPr/>
              <a:t>supported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/>
              <a:t>SITL</a:t>
            </a:r>
            <a:r>
              <a:rPr/>
              <a:t> </a:t>
            </a:r>
            <a:r>
              <a:rPr/>
              <a:t>plus</a:t>
            </a:r>
            <a:r>
              <a:rPr/>
              <a:t> </a:t>
            </a:r>
            <a:r>
              <a:rPr/>
              <a:t>hardware-validated</a:t>
            </a:r>
            <a:r>
              <a:rPr/>
              <a:t> </a:t>
            </a:r>
            <a:r>
              <a:rPr/>
              <a:t>software</a:t>
            </a:r>
            <a:r>
              <a:rPr/>
              <a:t> </a:t>
            </a:r>
            <a:r>
              <a:rPr/>
              <a:t>stack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 algn="r">
                        <a:buNone/>
                      </a:pPr>
                      <a:r>
                        <a:rPr/>
                        <a:t>Met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 algn="r">
                        <a:buNone/>
                      </a:pPr>
                      <a:r>
                        <a:rPr/>
                        <a:t>Partial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 algn="r">
                        <a:buNone/>
                      </a:pPr>
                      <a:r>
                        <a:rPr/>
                        <a:t>Unmeasured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Functional</a:t>
                      </a:r>
                      <a:r>
                        <a:rPr/>
                        <a:t> </a:t>
                      </a:r>
                      <a:r>
                        <a:rPr/>
                        <a:t>(FR1–FR8)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Non-functional</a:t>
                      </a:r>
                      <a:r>
                        <a:rPr/>
                        <a:t> </a:t>
                      </a:r>
                      <a:r>
                        <a:rPr/>
                        <a:t>(NFR1–NFR5)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 b="1"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 algn="r">
                        <a:buNone/>
                      </a:pPr>
                      <a:r>
                        <a:rPr b="1"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 algn="r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 algn="r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No first powered hover with the imaging stack mounted — deferred behind dissertation submission</a:t>
            </a:r>
          </a:p>
          <a:p>
            <a:pPr lvl="1"/>
            <a:r>
              <a:rPr/>
              <a:t>Outdoor compass calibration pending — gates the first hover</a:t>
            </a:r>
          </a:p>
          <a:p>
            <a:pPr lvl="1"/>
            <a:r>
              <a:rPr/>
              <a:t>Gesture pipeline is code-complete on both sides but untested against live Hailo pose decoder</a:t>
            </a:r>
          </a:p>
          <a:p>
            <a:pPr lvl="1"/>
            <a:r>
              <a:rPr/>
              <a:t>All telemetry distance tests so far are indoor through-wall, not outdoor LOS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Future</a:t>
            </a:r>
            <a:r>
              <a:rPr/>
              <a:t> </a:t>
            </a:r>
            <a:r>
              <a:rPr/>
              <a:t>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Indoor netted hover -&gt; outdoor open-field flight</a:t>
            </a:r>
          </a:p>
          <a:p>
            <a:pPr lvl="1"/>
            <a:r>
              <a:rPr/>
              <a:t>Live gesture validation (STOP / LAND / COME / RECEDE on COCO-17 keypoints)</a:t>
            </a:r>
          </a:p>
          <a:p>
            <a:pPr lvl="1"/>
            <a:r>
              <a:rPr/>
              <a:t>Person-recognition deployment via OSNet/CLIP + FAISS embeddings</a:t>
            </a:r>
          </a:p>
          <a:p>
            <a:pPr lvl="1"/>
            <a:r>
              <a:rPr/>
              <a:t>ROS2, Meshtastic mesh radio, ATAK tactical-overlay integration</a:t>
            </a:r>
          </a:p>
          <a:p>
            <a:pPr lvl="1"/>
            <a:r>
              <a:rPr/>
              <a:t>Vibration analysis post first powered flight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Live</a:t>
            </a:r>
            <a:r>
              <a:rPr/>
              <a:t> </a:t>
            </a:r>
            <a:r>
              <a:rPr/>
              <a:t>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Three parts:</a:t>
            </a:r>
          </a:p>
          <a:p>
            <a:pPr lvl="1">
              <a:buAutoNum type="arabicPeriod"/>
            </a:pPr>
            <a:r>
              <a:rPr b="1"/>
              <a:t>Gazebo T5 outdoor flight</a:t>
            </a:r>
            <a:r>
              <a:rPr/>
              <a:t> — recorded — 12 m obstacle, 1.92 m clearance</a:t>
            </a:r>
          </a:p>
          <a:p>
            <a:pPr lvl="1">
              <a:buAutoNum type="arabicPeriod"/>
            </a:pPr>
            <a:r>
              <a:rPr b="1"/>
              <a:t>Gazebo classroom replica</a:t>
            </a:r>
            <a:r>
              <a:rPr/>
              <a:t> — recorded — same algorithms in a virtual copy of this room</a:t>
            </a:r>
          </a:p>
          <a:p>
            <a:pPr lvl="1">
              <a:buAutoNum type="arabicPeriod"/>
            </a:pPr>
            <a:r>
              <a:rPr b="1"/>
              <a:t>Live perception on the airframe</a:t>
            </a:r>
            <a:r>
              <a:rPr/>
              <a:t> — handheld, motors off — YOLO detections + colourised depth heatmap + planner-would-command logs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Thank</a:t>
            </a:r>
            <a:r>
              <a:rPr/>
              <a:t> </a:t>
            </a:r>
            <a:r>
              <a:rPr/>
              <a:t>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Questions welcome.</a:t>
            </a:r>
          </a:p>
          <a:p>
            <a:pPr lvl="0" marL="0" indent="0">
              <a:buNone/>
            </a:pPr>
            <a:r>
              <a:rPr b="1"/>
              <a:t>Supporting tools</a:t>
            </a:r>
            <a:r>
              <a:rPr/>
              <a:t> (cited in the dissertation):</a:t>
            </a:r>
          </a:p>
          <a:p>
            <a:pPr lvl="1"/>
            <a:r>
              <a:rPr b="1"/>
              <a:t>Benchy</a:t>
            </a:r>
            <a:r>
              <a:rPr/>
              <a:t> — edge-AI NPU benchmark suite — github.com/JabbaghYounes/Benchy</a:t>
            </a:r>
          </a:p>
          <a:p>
            <a:pPr lvl="1"/>
            <a:r>
              <a:rPr b="1"/>
              <a:t>UPSentinel</a:t>
            </a:r>
            <a:r>
              <a:rPr/>
              <a:t> — Waveshare UPS HAT tray indicator — github.com/JabbaghYounes/UPSentinel</a:t>
            </a:r>
          </a:p>
          <a:p>
            <a:pPr lvl="0" marL="0" indent="0">
              <a:buNone/>
            </a:pPr>
            <a:r>
              <a:rPr/>
              <a:t>Younes Jabbagh — 10771837@cityplym.ac.uk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Office PowerPoint</Application>
  <PresentationFormat>On-screen Show (4:3)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2026-05-19T21:25:20Z</dcterms:created>
  <dcterms:modified xsi:type="dcterms:W3CDTF">2026-05-19T21:25:20Z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